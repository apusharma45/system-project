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 Passed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Backend (Jest)</c:v>
                  </c:pt>
                  <c:pt idx="1">
                    <c:v>Web (Vitest)</c:v>
                  </c:pt>
                  <c:pt idx="2">
                    <c:v>Mobile (Flutter)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102</c:v>
                </c:pt>
                <c:pt idx="1">
                  <c:v>79</c:v>
                </c:pt>
                <c:pt idx="2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21E30"/>
          </a:solidFill>
          <a:ln w="12700">
            <a:solidFill>
              <a:srgbClr val="021E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731520"/>
            <a:ext cx="1371600" cy="1371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229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Outpatient Care Coordination System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5486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5146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 Sharma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2107005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Eftakar Jaman Arfan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2107030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K. M. Azharul Hasan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0690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KUET  |  CSE 3200: System Development Project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54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32320" y="47548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65760" y="960120"/>
            <a:ext cx="4023360" cy="621792"/>
          </a:xfrm>
          <a:prstGeom prst="roundRect">
            <a:avLst>
              <a:gd name="adj" fmla="val 7353"/>
            </a:avLst>
          </a:prstGeom>
          <a:solidFill>
            <a:srgbClr val="E0F4FD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05156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105156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1719072"/>
            <a:ext cx="4023360" cy="621792"/>
          </a:xfrm>
          <a:prstGeom prst="roundRect">
            <a:avLst>
              <a:gd name="adj" fmla="val 7353"/>
            </a:avLst>
          </a:prstGeom>
          <a:solidFill>
            <a:srgbClr val="E8FAF5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81051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181051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Works &amp; Gap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2478024"/>
            <a:ext cx="4023360" cy="621792"/>
          </a:xfrm>
          <a:prstGeom prst="roundRect">
            <a:avLst>
              <a:gd name="adj" fmla="val 7353"/>
            </a:avLst>
          </a:prstGeom>
          <a:solidFill>
            <a:srgbClr val="E0F4FD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69464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2569464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236976"/>
            <a:ext cx="4023360" cy="621792"/>
          </a:xfrm>
          <a:prstGeom prst="roundRect">
            <a:avLst>
              <a:gd name="adj" fmla="val 7353"/>
            </a:avLst>
          </a:prstGeom>
          <a:solidFill>
            <a:srgbClr val="E8FAF5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2841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332841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Design (FSMs)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995928"/>
            <a:ext cx="4023360" cy="621792"/>
          </a:xfrm>
          <a:prstGeom prst="roundRect">
            <a:avLst>
              <a:gd name="adj" fmla="val 7353"/>
            </a:avLst>
          </a:prstGeom>
          <a:solidFill>
            <a:srgbClr val="E0F4FD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8736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408736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960120"/>
            <a:ext cx="4023360" cy="621792"/>
          </a:xfrm>
          <a:prstGeom prst="roundRect">
            <a:avLst>
              <a:gd name="adj" fmla="val 7353"/>
            </a:avLst>
          </a:prstGeom>
          <a:solidFill>
            <a:srgbClr val="E8FAF5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05156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94960" y="105156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Backend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1719072"/>
            <a:ext cx="4023360" cy="621792"/>
          </a:xfrm>
          <a:prstGeom prst="roundRect">
            <a:avLst>
              <a:gd name="adj" fmla="val 7353"/>
            </a:avLst>
          </a:prstGeom>
          <a:solidFill>
            <a:srgbClr val="E0F4FD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81051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94960" y="181051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(Web &amp; Mobile)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754880" y="2478024"/>
            <a:ext cx="4023360" cy="621792"/>
          </a:xfrm>
          <a:prstGeom prst="roundRect">
            <a:avLst>
              <a:gd name="adj" fmla="val 7353"/>
            </a:avLst>
          </a:prstGeom>
          <a:solidFill>
            <a:srgbClr val="E8FAF5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569464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94960" y="2569464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54880" y="3236976"/>
            <a:ext cx="4023360" cy="621792"/>
          </a:xfrm>
          <a:prstGeom prst="roundRect">
            <a:avLst>
              <a:gd name="adj" fmla="val 7353"/>
            </a:avLst>
          </a:prstGeom>
          <a:solidFill>
            <a:srgbClr val="E0F4FD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32841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94960" y="332841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&amp; Ethics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754880" y="3995928"/>
            <a:ext cx="4023360" cy="621792"/>
          </a:xfrm>
          <a:prstGeom prst="roundRect">
            <a:avLst>
              <a:gd name="adj" fmla="val 7353"/>
            </a:avLst>
          </a:prstGeom>
          <a:solidFill>
            <a:srgbClr val="E8FAF5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08736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394960" y="408736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65760" y="914400"/>
            <a:ext cx="4937760" cy="777240"/>
          </a:xfrm>
          <a:prstGeom prst="rect">
            <a:avLst/>
          </a:prstGeom>
          <a:solidFill>
            <a:srgbClr val="FFF3F3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9601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Healthcare Challenge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12344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services rely on phone calls, paper queues, handwritten prescriptions, and manual lab result dispatch.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874520"/>
            <a:ext cx="2286000" cy="502920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47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Duplicate / missed bookings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514600"/>
            <a:ext cx="2286000" cy="502920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877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Lost or misread prescriptions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2286000" cy="502920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278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Delayed lab result collection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26080" y="1874520"/>
            <a:ext cx="2286000" cy="502920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1947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No patient status transparency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2514600"/>
            <a:ext cx="2286000" cy="502920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5877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Fragmented clinical data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26080" y="3154680"/>
            <a:ext cx="2286000" cy="502920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32278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No real-time communication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0" y="914400"/>
            <a:ext cx="3291840" cy="3794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Solution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577840" y="14630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5-Role integrated platform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77840" y="18562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Appointment FSM (7 states)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77840" y="22494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Prescription FSM (5 states)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264261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Lab Order FSM (4 states)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30358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WebSocket alerts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77840" y="34290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Cloud document storage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77840" y="38221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React Web + Flutter App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77840" y="421538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audit trail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576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1325880"/>
            <a:ext cx="4114800" cy="713232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41732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35608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137160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role-based system coordinating Patient, Doctor, Pharmacy &amp; Diagnostic workflows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148840"/>
            <a:ext cx="4114800" cy="713232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24028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258568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219456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&amp; test appointment → prescription → lab result pipeline with real-time notifications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4114800" cy="713232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06324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81528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01752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multi-platform interfaces: React Web Dashboard + Flutter Mobile App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54880" y="1325880"/>
            <a:ext cx="402336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371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16276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v11  ·  Prisma ORM v7  ·  PostgreSQL  ·  Socket.IO  ·  JWT  ·  Cloudinary  ·  PDFKit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331720"/>
            <a:ext cx="402336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26334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 ·  TypeScript 5.9  ·  TanStack Query  ·  Recharts  ·  Vite  ·  Vitest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337560"/>
            <a:ext cx="4023360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383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36393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Flutter/Dart  ·  GoRouter  ·  socket_io_client  ·  image_picker  ·  shared_prefs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Works &amp; Gap Analysis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291840"/>
        </p:xfrm>
        <a:graphic>
          <a:graphicData uri="http://schemas.openxmlformats.org/drawingml/2006/table">
            <a:tbl>
              <a:tblPr/>
              <a:tblGrid>
                <a:gridCol w="2103120"/>
                <a:gridCol w="822960"/>
                <a:gridCol w="1097280"/>
                <a:gridCol w="914400"/>
                <a:gridCol w="1188720"/>
                <a:gridCol w="1920240"/>
              </a:tblGrid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Appt States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OpenMRS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OpenEMR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Calendly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Flutter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MedFlow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 (Android+iOS)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D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365760" y="434340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MedFlow is the only system combining all 5 stakeholder roles, 7-state appointments, 5-state prescriptions, WebSocket real-time notifications, and a Flutter mobile app in one integrated platform.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371600" y="914400"/>
            <a:ext cx="6400800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63040" y="9601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129844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SPA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2148840"/>
            <a:ext cx="640080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63040" y="21945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253288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 ·  RBAC  ·  FSM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 ·  PDFKit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3383280"/>
            <a:ext cx="64008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63040" y="34290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376732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(Prisma)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Storage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187452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310896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" y="12801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" y="1280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" y="19659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55280" y="9144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8FAF5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914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55280" y="16002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8FAF5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1600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55280" y="22860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8FAF5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2286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8600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&amp;  WebSocket (Socket.IO)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Roles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65760" y="914400"/>
            <a:ext cx="2651760" cy="2194560"/>
          </a:xfrm>
          <a:prstGeom prst="rect">
            <a:avLst/>
          </a:prstGeom>
          <a:solidFill>
            <a:srgbClr val="E8FAFA"/>
          </a:solidFill>
          <a:ln w="10160">
            <a:solidFill>
              <a:srgbClr val="D1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914400"/>
            <a:ext cx="265176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960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1417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Register &amp; manage profile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17556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Browse &amp; book doctors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20939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View appointments &amp; status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24323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Download prescriptions &amp; lab reports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27706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Real-time push notifications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914400"/>
            <a:ext cx="2651760" cy="2194560"/>
          </a:xfrm>
          <a:prstGeom prst="rect">
            <a:avLst/>
          </a:prstGeom>
          <a:solidFill>
            <a:srgbClr val="E0F4FD"/>
          </a:solidFill>
          <a:ln w="10160">
            <a:solidFill>
              <a:srgbClr val="D1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914400"/>
            <a:ext cx="26517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960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9000" y="1417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Manage appointment queue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29000" y="17556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Drive appointment FSM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29000" y="20939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Create &amp; sign prescriptions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29000" y="24323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Order diagnostic lab tests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29000" y="27706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View analytics dashboard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914400"/>
            <a:ext cx="2651760" cy="2194560"/>
          </a:xfrm>
          <a:prstGeom prst="rect">
            <a:avLst/>
          </a:prstGeom>
          <a:solidFill>
            <a:srgbClr val="F0EAFF"/>
          </a:solidFill>
          <a:ln w="10160">
            <a:solidFill>
              <a:srgbClr val="D1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914400"/>
            <a:ext cx="2651760" cy="411480"/>
          </a:xfrm>
          <a:prstGeom prst="rect">
            <a:avLst/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960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55080" y="1417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Receive prescriptions from doctors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17556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Review medication details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55080" y="20939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Download prescription PDFs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55080" y="24323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Update dispensing status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645920" y="2743200"/>
            <a:ext cx="2651760" cy="2194560"/>
          </a:xfrm>
          <a:prstGeom prst="rect">
            <a:avLst/>
          </a:prstGeom>
          <a:solidFill>
            <a:srgbClr val="FFF5EE"/>
          </a:solidFill>
          <a:ln w="10160">
            <a:solidFill>
              <a:srgbClr val="D1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645920" y="2743200"/>
            <a:ext cx="2651760" cy="41148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783080" y="3246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Accept lab orders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783080" y="35844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Collect samples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783080" y="39227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Upload result files to cloud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783080" y="42611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Notify patients of ready reports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2743200"/>
            <a:ext cx="2651760" cy="2194560"/>
          </a:xfrm>
          <a:prstGeom prst="rect">
            <a:avLst/>
          </a:prstGeom>
          <a:solidFill>
            <a:srgbClr val="F5F5F5"/>
          </a:solidFill>
          <a:ln w="10160">
            <a:solidFill>
              <a:srgbClr val="D1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2743200"/>
            <a:ext cx="265176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892040" y="3246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System-wide oversight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92040" y="35844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Paginated audit logs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92040" y="39227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Entity-level trace queries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Workflow (FSM)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657600" y="960120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9601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1920240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9202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803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2880360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8803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IN_VISIT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03120" y="3794760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37947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EXAM_DONE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4434840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44348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947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23360" y="1188720"/>
            <a:ext cx="640080" cy="7315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0" y="2157984"/>
            <a:ext cx="1280160" cy="72237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2157984"/>
            <a:ext cx="457200" cy="72237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3355848"/>
            <a:ext cx="9144" cy="43891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0" y="3355848"/>
            <a:ext cx="1188720" cy="43891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03120" y="4032504"/>
            <a:ext cx="274320" cy="40233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960120"/>
          <a:ext cx="3749040" cy="3520440"/>
        </p:xfrm>
        <a:graphic>
          <a:graphicData uri="http://schemas.openxmlformats.org/drawingml/2006/table">
            <a:tbl>
              <a:tblPr/>
              <a:tblGrid>
                <a:gridCol w="1097280"/>
                <a:gridCol w="265176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submits; awaiting doctor confirmation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accepted; appointment scheduled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called to waiting area (push notification)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IN_VISIT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is in consultation room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EXAM_DONE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Consultation done; Rx &amp; lab orders now possible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steps resolved; appointment finalized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 by patient, doctor, or 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 Order Workflows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576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FSM  (5 States)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13258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325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00200" y="1783080"/>
            <a:ext cx="0" cy="13716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3990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creates Rx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00200" y="2377440"/>
            <a:ext cx="0" cy="13716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19933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signs Rx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5146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PATIENT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00200" y="2971800"/>
            <a:ext cx="0" cy="13716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2587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patient + notify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1089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108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PHARMACY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00200" y="3566160"/>
            <a:ext cx="0" cy="13716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31821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 to pharmacy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703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03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3776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dispensed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Order FSM  (4 States)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846320" y="132588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1325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0" y="1828800"/>
            <a:ext cx="0" cy="18288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7804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assigns to diagnostic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01168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011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2514600"/>
            <a:ext cx="0" cy="18288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acknowledges + notify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269748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COLLECTED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43600" y="3200400"/>
            <a:ext cx="0" cy="18288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physically collected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338328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3832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17804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uploaded to Cloudinary; patient notified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Overview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65760" y="960120"/>
            <a:ext cx="402336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960120"/>
            <a:ext cx="109728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005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· fullName · email · role · passwordHash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783080"/>
            <a:ext cx="402336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783080"/>
            <a:ext cx="109728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1828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PatientProfile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 · gender · allergies · chronicConditions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06040"/>
            <a:ext cx="402336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06040"/>
            <a:ext cx="109728" cy="685800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651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ProfessionalProfile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licenseNumber · specialization · availableSlots (JSON)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429000"/>
            <a:ext cx="402336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429000"/>
            <a:ext cx="109728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474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 · doctorId · status · scheduledAt · requiresLab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251960"/>
            <a:ext cx="402336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251960"/>
            <a:ext cx="109728" cy="685800"/>
          </a:xfrm>
          <a:prstGeom prst="rect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297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4572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appointmentId · status · medications (JSON) · documentUrl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960120"/>
            <a:ext cx="402336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960120"/>
            <a:ext cx="109728" cy="6858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1005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LabOrder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64608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appointmentId · diagnosticId · status · tests (JSON)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1783080"/>
            <a:ext cx="402336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1783080"/>
            <a:ext cx="109728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1828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LabResult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64608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labOrderId · fileUrl · fileMimeType · fileSizeBytes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2606040"/>
            <a:ext cx="402336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606040"/>
            <a:ext cx="109728" cy="6858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2651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64608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· type · message · read (bool)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429000"/>
            <a:ext cx="402336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3429000"/>
            <a:ext cx="109728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474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64608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actorUserId · action · entityType · metadata (JSON)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4251960"/>
            <a:ext cx="402336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4251960"/>
            <a:ext cx="109728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4297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PasswordResetCode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864608" y="4572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· codeHash (SHA-256) · expiresAt · attempts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Prisma models  ·  15 incremental migrations  ·  PostgreSQL with Prisma ORM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NestJS Modules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65760" y="960120"/>
            <a:ext cx="4023360" cy="822960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0241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AuthModule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13441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· JWT · RBAC Guards · Password 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965960"/>
            <a:ext cx="4023360" cy="822960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29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AppointmentsModule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3500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transitions · Notification triggers · Audit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4023360" cy="822960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358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PrescriptionsModule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3558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Draft→Dispensed · PDF via PDFKit · Cloudinary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4023360" cy="822960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416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LabsModule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3616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creation · Assignment · Result file upload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960120"/>
            <a:ext cx="4023360" cy="822960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0241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NotificationsModule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13441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gateway · Real-time push per-user rooms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965960"/>
            <a:ext cx="4023360" cy="822960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029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AuditModule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23500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logs · Entity trace queries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971800"/>
            <a:ext cx="4023360" cy="822960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0358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PrismaModule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0600" y="33558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PrismaClient singleton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977640"/>
            <a:ext cx="4023360" cy="822960"/>
          </a:xfrm>
          <a:prstGeom prst="rect">
            <a:avLst/>
          </a:prstGeom>
          <a:solidFill>
            <a:srgbClr val="E0F4FD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0416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CloudinaryModule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43616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 uploads · Base64 dev fallback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feature modules  ·  Each with its own Service, Controller, DTO  ·  Strict RBAC enforcement via JwtAuthGuard + RolesGuard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 Groups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solidFill>
            <a:srgbClr val="F8FC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960120"/>
            <a:ext cx="146304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960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10058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/auth/register  ·  /auth/login  ·  /auth/forgot-password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0" y="1051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536192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536192"/>
            <a:ext cx="14630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5361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0240" y="158191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/appointments/:id/confirm  ·  /call  ·  /in-visit  ·  /exam-done  ·  /close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0" y="1627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Doctor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112264"/>
            <a:ext cx="8412480" cy="502920"/>
          </a:xfrm>
          <a:prstGeom prst="rect">
            <a:avLst/>
          </a:prstGeom>
          <a:solidFill>
            <a:srgbClr val="F8FC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112264"/>
            <a:ext cx="14630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11226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20240" y="215798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/prescriptions/:id/sign  ·  /send-patient  ·  /send-pharmacy  ·  /dispense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0" y="22037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Doctor, Pharmacy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688336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688336"/>
            <a:ext cx="1463040" cy="502920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68833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Orders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920240" y="273405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/labs/orders/:id/assign  ·  /sample-collected  ·  /result-uploaded  ·  /sent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15200" y="27797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Doctor, Diagnostic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264408"/>
            <a:ext cx="8412480" cy="502920"/>
          </a:xfrm>
          <a:prstGeom prst="rect">
            <a:avLst/>
          </a:prstGeom>
          <a:solidFill>
            <a:srgbClr val="F8FC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264408"/>
            <a:ext cx="146304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644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920240" y="331012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/notifications/me  ·  /notifications/me/read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0" y="33558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authenticated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840480"/>
            <a:ext cx="1463040" cy="502920"/>
          </a:xfrm>
          <a:prstGeom prst="rect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840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920240" y="38862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/users/doctors  ·  /users/me/avatar  ·  /doctors/me/profile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31520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416552"/>
            <a:ext cx="8412480" cy="502920"/>
          </a:xfrm>
          <a:prstGeom prst="rect">
            <a:avLst/>
          </a:prstGeom>
          <a:solidFill>
            <a:srgbClr val="F8FC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4416552"/>
            <a:ext cx="1463040" cy="5029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4165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920240" y="446227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/audit  ·  /audit/me  ·  /audit/entity/:entityType/:entityId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315200" y="45079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Users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Frontend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960120"/>
            <a:ext cx="40233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014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141732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Dashboard + Analytics (Recharts)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168249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Appointment Queue &amp; FSM Actions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194767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Create Prescriptions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21284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Lab Orders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47802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Patient Profiles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26080"/>
            <a:ext cx="402336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80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Dashboard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38328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Appointment Booking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64845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Status Timeline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91363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View Prescriptions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17880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Download Lab Reports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44398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Medical Records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70916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Profile + Avatar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96012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960120"/>
            <a:ext cx="4023360" cy="384048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014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Dashboard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141732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Dashboard Overview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168249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Prescription Queue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194767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Medication Details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221284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Download PDF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247802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Update Dispense Status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292608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2926080"/>
            <a:ext cx="4023360" cy="38404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980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Dashboard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00600" y="338328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Lab Orders List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00600" y="364845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Upload Result Files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0600" y="391363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Notifications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00600" y="417880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Profile Management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for data fetching  ·  Recharts for analytics  ·  Socket.IO client for real-time  ·  RoleHomeRedirect for routing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 (Patient)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65760" y="914400"/>
            <a:ext cx="457200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9601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12344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· PatientShell · GoRouter navigation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691640"/>
            <a:ext cx="45720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7373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01168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SessionController · NotificationsCenterController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68880"/>
            <a:ext cx="4572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14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27889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NotificationsRealtimeService · socket_io_client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246120"/>
            <a:ext cx="4572000" cy="658368"/>
          </a:xfrm>
          <a:prstGeom prst="rect">
            <a:avLst/>
          </a:prstGeom>
          <a:solidFill>
            <a:srgbClr val="021E30"/>
          </a:solidFill>
          <a:ln w="12700">
            <a:solidFill>
              <a:srgbClr val="021E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91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/ Repository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5661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Dart models · Mappers · REST calls via http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914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 Features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212080" y="132588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307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session management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212080" y="173736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1719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 doctors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212080" y="214884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2130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212080" y="25603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542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appointment status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212080" y="2971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2953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download prescriptions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212080" y="338328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3364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lab result reports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212080" y="379476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3776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 notifications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212080" y="420624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4187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&amp; profile management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65760" y="914400"/>
            <a:ext cx="19202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91440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365760" y="1783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Tests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14600" y="914400"/>
            <a:ext cx="19202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14600" y="91440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2514600" y="1783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Tests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1920240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91440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4663440" y="1783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Tests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12280" y="914400"/>
            <a:ext cx="1920240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12280" y="91440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6812280" y="1783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Pass</a:t>
            </a:r>
            <a:endParaRPr lang="en-US" sz="11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65760" y="2514600"/>
          <a:ext cx="50292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557784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Validation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7784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 redirects &amp; guards working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577840" y="3273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FSM transitions enforced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577840" y="36210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notifications delivered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577840" y="39684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generation &amp; Cloudinary upload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577840" y="4315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Doctor analytics dashboard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577840" y="4663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Flutter emulator end-to-end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D1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Societal, Ethical &amp; Legal Considerations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960120"/>
            <a:ext cx="402336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014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Impact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143560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Eliminates waiting-room queues via real-time status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176479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Digitizes prescriptions → no lost/misread Rx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09397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Reduces travel for lab result collection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4231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Mobile-first access for patients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26080"/>
            <a:ext cx="40233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80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40156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Data minimisation for patient records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73075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bcrypt password hashing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05993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Role-based access control (RBAC)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38912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Expiring, hashed password reset codes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96012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960120"/>
            <a:ext cx="40233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014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Security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143560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DTO validators prevent invalid FSM states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176479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JWT-authenticated Socket.IO connections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209397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Prisma parameterized queries (SQL-safe)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24231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Cloudinary HMAC-SHA256 signed uploads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92608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926080"/>
            <a:ext cx="402336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980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Environmental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00600" y="340156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Bangladesh Digital Security Act 2018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373075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GDPR-aligned erasure &amp; portability (EU)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00600" y="405993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Electronic Rx reduces paper waste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438912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Cloud hosting reduces infrastructure idle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8256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5744" y="73152"/>
            <a:ext cx="804672" cy="109728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73152"/>
            <a:ext cx="804672" cy="10972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1371600"/>
            <a:ext cx="402336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Mobile app covers Patient role only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011680"/>
            <a:ext cx="402336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Redis adapter — Socket.IO not load-balanced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402336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97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formal OWASP Top-10 security audit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402336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Email delivery is a prototype stub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402336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77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Appointments not constrained by real-time availability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Future Work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663440" y="1371600"/>
            <a:ext cx="411480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399032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Doctor/Pharmacy/Diagnostic Flutter mobile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1819656"/>
            <a:ext cx="411480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847088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Socket.IO Redis adapter for scale-out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63440" y="2267712"/>
            <a:ext cx="411480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295144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Production email service integration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63440" y="2715768"/>
            <a:ext cx="411480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743200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doctor availability &amp; slot reservation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3163824"/>
            <a:ext cx="411480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191256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WebRTC teleconsultation module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63440" y="3611880"/>
            <a:ext cx="411480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639312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National patient identifier integration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63440" y="4059936"/>
            <a:ext cx="411480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4087368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ML-based no-show prediction assistant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663440" y="4507992"/>
            <a:ext cx="411480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535424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Formal security &amp; privacy audit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65760" y="4892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3232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984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successfully integrates 5 roles — Patient, Doctor, Pharmacy, Diagnostic, Admin — in a single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75688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75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4825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FSMs (Appointment 7-state, Prescription 5-state, Lab 4-state) enforce clinical workflow integrity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25496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25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79806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automated tests — 0 failures — across Backend (Jest), Web (Vitest), Mobile (Flutter)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75304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5478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that NestJS + Prisma + React + Flutter can deliver scalable outpatient care coordination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8229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KUET  ·  CSE 3200  ·  Apu Sharma &amp; Md. Eftakar Jaman Arfan  ·  April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0" y="4800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MedFlow: Integrated Outpatient Care Coordination System</dc:title>
  <dc:subject>PptxGenJS Presentation</dc:subject>
  <dc:creator>Apu Sharma &amp; Md. Eftakar Jaman Arfan</dc:creator>
  <cp:lastModifiedBy>Apu Sharma &amp; Md. Eftakar Jaman Arfan</cp:lastModifiedBy>
  <cp:revision>1</cp:revision>
  <dcterms:created xsi:type="dcterms:W3CDTF">2026-04-24T07:36:13Z</dcterms:created>
  <dcterms:modified xsi:type="dcterms:W3CDTF">2026-04-24T07:36:13Z</dcterms:modified>
</cp:coreProperties>
</file>